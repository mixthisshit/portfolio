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creens/00_onboar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9663" y="0"/>
            <a:ext cx="3231857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C6FF3C">
              <a:alpha val="12000"/>
            </a:srgbClr>
          </a:solidFill>
          <a:ln/>
        </p:spPr>
      </p:sp>
      <p:pic>
        <p:nvPicPr>
          <p:cNvPr id="4" name="Image 1" descr="/home/claude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51560"/>
            <a:ext cx="91440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83080" y="1024128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4F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</a:t>
            </a:r>
            <a:pPr indent="0" marL="0">
              <a:buNone/>
            </a:pPr>
            <a:r>
              <a:rPr lang="en-US" sz="5800" b="1" dirty="0">
                <a:solidFill>
                  <a:srgbClr val="C6F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5800" dirty="0"/>
          </a:p>
        </p:txBody>
      </p:sp>
      <p:sp>
        <p:nvSpPr>
          <p:cNvPr id="6" name="Text 2"/>
          <p:cNvSpPr/>
          <p:nvPr/>
        </p:nvSpPr>
        <p:spPr>
          <a:xfrm>
            <a:off x="777240" y="2331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ИИ-тренер по технике скейтбординга</a:t>
            </a:r>
            <a:endParaRPr lang="en-US" sz="2500" dirty="0"/>
          </a:p>
        </p:txBody>
      </p:sp>
      <p:sp>
        <p:nvSpPr>
          <p:cNvPr id="7" name="Text 3"/>
          <p:cNvSpPr/>
          <p:nvPr/>
        </p:nvSpPr>
        <p:spPr>
          <a:xfrm>
            <a:off x="777240" y="30632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Снял трюк  →  ИИ нашёл ошибку  →  исправил быстрее, чем с тренером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795528" y="5806440"/>
            <a:ext cx="5486400" cy="0"/>
          </a:xfrm>
          <a:prstGeom prst="line">
            <a:avLst/>
          </a:prstGeom>
          <a:noFill/>
          <a:ln w="12700">
            <a:solidFill>
              <a:srgbClr val="2A2E3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7724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Итоговый проект · «Управление интеллектуальной собственностью» · ИТМО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C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ПРОБЛЕМА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100" kern="0" dirty="0">
                <a:solidFill>
                  <a:srgbClr val="F4F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СКЕЙТБОРДИСТ УЧИТСЯ ВСЛЕПУЮ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93592" cy="3017520"/>
          </a:xfrm>
          <a:prstGeom prst="roundRect">
            <a:avLst>
              <a:gd name="adj" fmla="val 3636"/>
            </a:avLst>
          </a:prstGeom>
          <a:solidFill>
            <a:srgbClr val="16181C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86000"/>
            <a:ext cx="777240" cy="777240"/>
          </a:xfrm>
          <a:prstGeom prst="ellipse">
            <a:avLst/>
          </a:prstGeom>
          <a:solidFill>
            <a:srgbClr val="C6FF3C"/>
          </a:solidFill>
          <a:ln/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6" name="Image 0" descr="/home/claude/ic_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482" y="248808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46120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Нет обратной связи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931920"/>
            <a:ext cx="2862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Повторяет ошибку сотни раз и не понимает, что именно не так.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06824" y="1874520"/>
            <a:ext cx="3593592" cy="3017520"/>
          </a:xfrm>
          <a:prstGeom prst="roundRect">
            <a:avLst>
              <a:gd name="adj" fmla="val 3636"/>
            </a:avLst>
          </a:prstGeom>
          <a:solidFill>
            <a:srgbClr val="16181C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72584" y="2286000"/>
            <a:ext cx="777240" cy="777240"/>
          </a:xfrm>
          <a:prstGeom prst="ellipse">
            <a:avLst/>
          </a:prstGeom>
          <a:solidFill>
            <a:srgbClr val="C6FF3C"/>
          </a:solidFill>
          <a:ln/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11" name="Image 1" descr="/home/claude/ic_us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666" y="248808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72584" y="3246120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Тренер — дорого и редко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72584" y="3931920"/>
            <a:ext cx="2862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Персональный тренер недоступен, особенно в регионах.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065008" y="1874520"/>
            <a:ext cx="3593592" cy="3017520"/>
          </a:xfrm>
          <a:prstGeom prst="roundRect">
            <a:avLst>
              <a:gd name="adj" fmla="val 3636"/>
            </a:avLst>
          </a:prstGeom>
          <a:solidFill>
            <a:srgbClr val="16181C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30768" y="2286000"/>
            <a:ext cx="777240" cy="777240"/>
          </a:xfrm>
          <a:prstGeom prst="ellipse">
            <a:avLst/>
          </a:prstGeom>
          <a:solidFill>
            <a:srgbClr val="C6FF3C"/>
          </a:solidFill>
          <a:ln/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16" name="Image 2" descr="/home/claude/ic_vide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2850" y="248808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30768" y="3246120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YouTube обезличен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30768" y="3931920"/>
            <a:ext cx="2862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Показывает «как надо», но не разбирает твою конкретную попытку.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F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Итог: месяцы без прогресса — и человек бросает.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C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РЕШЕНИЕ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100" kern="0" dirty="0">
                <a:solidFill>
                  <a:srgbClr val="F4F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ПЕРСОНАЛЬНЫЙ ИИ-ТРЕНЕР В ТЕЛЕФОНЕ</a:t>
            </a:r>
            <a:endParaRPr lang="en-US" sz="3300" dirty="0"/>
          </a:p>
        </p:txBody>
      </p:sp>
      <p:pic>
        <p:nvPicPr>
          <p:cNvPr id="4" name="Image 0" descr="/home/claude/screens/04_result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2370028" cy="5029200"/>
          </a:xfrm>
          <a:prstGeom prst="rect">
            <a:avLst/>
          </a:prstGeom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206240" y="17373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4F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FormAI снимает трюк, распознаёт позу и доску, раскладывает движение на фазы и показывает 1–2 главные ошибки и упражнения, чтобы их исправить.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4206240" y="2926080"/>
            <a:ext cx="566928" cy="566928"/>
          </a:xfrm>
          <a:prstGeom prst="ellipse">
            <a:avLst/>
          </a:prstGeom>
          <a:solidFill>
            <a:srgbClr val="C6FF3C"/>
          </a:solidFill>
          <a:ln/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20624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B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983480" y="290779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Снимаешь трюк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983480" y="325526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телефон с подсказкой по ракурсу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06240" y="3794760"/>
            <a:ext cx="566928" cy="566928"/>
          </a:xfrm>
          <a:prstGeom prst="ellipse">
            <a:avLst/>
          </a:prstGeom>
          <a:solidFill>
            <a:srgbClr val="C6FF3C"/>
          </a:solidFill>
          <a:ln/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206240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B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983480" y="377647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ИИ раскладывает на фазы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983480" y="412394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распознаёт позу и сравнивает с эталоном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206240" y="4663440"/>
            <a:ext cx="566928" cy="566928"/>
          </a:xfrm>
          <a:prstGeom prst="ellipse">
            <a:avLst/>
          </a:prstGeom>
          <a:solidFill>
            <a:srgbClr val="C6FF3C"/>
          </a:solidFill>
          <a:ln/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206240" y="4663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B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983480" y="464515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Видишь ошибки и дриллы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983480" y="499262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чинить и какими упражнениями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206240" y="5532120"/>
            <a:ext cx="566928" cy="566928"/>
          </a:xfrm>
          <a:prstGeom prst="ellipse">
            <a:avLst/>
          </a:prstGeom>
          <a:solidFill>
            <a:srgbClr val="C6FF3C"/>
          </a:solidFill>
          <a:ln/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206240" y="5532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B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4983480" y="551383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Отслеживаешь прогресс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983480" y="586130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динамика техники по каждому трюку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C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MVP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100" kern="0" dirty="0">
                <a:solidFill>
                  <a:srgbClr val="F4F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ОСНОВНОЙ ЦИКЛ ЦЕННОСТИ</a:t>
            </a:r>
            <a:endParaRPr lang="en-US" sz="3300" dirty="0"/>
          </a:p>
        </p:txBody>
      </p:sp>
      <p:pic>
        <p:nvPicPr>
          <p:cNvPr id="4" name="Image 0" descr="/home/claude/screens/02_cap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2089934" cy="4434840"/>
          </a:xfrm>
          <a:prstGeom prst="rect">
            <a:avLst/>
          </a:prstGeom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57200" y="6126480"/>
            <a:ext cx="22728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620286" y="3543300"/>
            <a:ext cx="190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6F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200" dirty="0"/>
          </a:p>
        </p:txBody>
      </p:sp>
      <p:pic>
        <p:nvPicPr>
          <p:cNvPr id="7" name="Image 1" descr="/home/claude/screens/03_process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216" y="1600200"/>
            <a:ext cx="2089934" cy="4434840"/>
          </a:xfrm>
          <a:prstGeom prst="rect">
            <a:avLst/>
          </a:prstGeom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2700776" y="6126480"/>
            <a:ext cx="22728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 ИИ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863863" y="3543300"/>
            <a:ext cx="190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6F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200" dirty="0"/>
          </a:p>
        </p:txBody>
      </p:sp>
      <p:pic>
        <p:nvPicPr>
          <p:cNvPr id="10" name="Image 2" descr="/home/claude/screens/04_result_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5793" y="1600200"/>
            <a:ext cx="2089934" cy="4434840"/>
          </a:xfrm>
          <a:prstGeom prst="rect">
            <a:avLst/>
          </a:prstGeom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pic>
      <p:sp>
        <p:nvSpPr>
          <p:cNvPr id="11" name="Text 6"/>
          <p:cNvSpPr/>
          <p:nvPr/>
        </p:nvSpPr>
        <p:spPr>
          <a:xfrm>
            <a:off x="4944353" y="6126480"/>
            <a:ext cx="22728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Разбор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7107439" y="3543300"/>
            <a:ext cx="190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6F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200" dirty="0"/>
          </a:p>
        </p:txBody>
      </p:sp>
      <p:pic>
        <p:nvPicPr>
          <p:cNvPr id="13" name="Image 3" descr="/home/claude/screens/05_fixi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9369" y="1600200"/>
            <a:ext cx="2089934" cy="4434840"/>
          </a:xfrm>
          <a:prstGeom prst="rect">
            <a:avLst/>
          </a:prstGeom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pic>
      <p:sp>
        <p:nvSpPr>
          <p:cNvPr id="14" name="Text 8"/>
          <p:cNvSpPr/>
          <p:nvPr/>
        </p:nvSpPr>
        <p:spPr>
          <a:xfrm>
            <a:off x="7187929" y="6126480"/>
            <a:ext cx="22728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Дриллы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9351016" y="3543300"/>
            <a:ext cx="190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6F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200" dirty="0"/>
          </a:p>
        </p:txBody>
      </p:sp>
      <p:pic>
        <p:nvPicPr>
          <p:cNvPr id="16" name="Image 4" descr="/home/claude/screens/06_progres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2946" y="1600200"/>
            <a:ext cx="2089934" cy="4434840"/>
          </a:xfrm>
          <a:prstGeom prst="rect">
            <a:avLst/>
          </a:prstGeom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pic>
      <p:sp>
        <p:nvSpPr>
          <p:cNvPr id="17" name="Text 10"/>
          <p:cNvSpPr/>
          <p:nvPr/>
        </p:nvSpPr>
        <p:spPr>
          <a:xfrm>
            <a:off x="9431506" y="6126480"/>
            <a:ext cx="22728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Прогресс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Цикл, за доступ к которому пользователь платит подписку.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C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РЫНОК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100" kern="0" dirty="0">
                <a:solidFill>
                  <a:srgbClr val="F4F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РЫНОК ЦИФРОВОГО ОБУЧЕНИЯ ТЕХНИКЕ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7863840" cy="1097280"/>
          </a:xfrm>
          <a:prstGeom prst="roundRect">
            <a:avLst>
              <a:gd name="adj" fmla="val 8333"/>
            </a:avLst>
          </a:prstGeom>
          <a:solidFill>
            <a:srgbClr val="1C1F24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848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BC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  ·   скейтбордистов в мире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62 млн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1554480" y="3246120"/>
            <a:ext cx="5852160" cy="1097280"/>
          </a:xfrm>
          <a:prstGeom prst="roundRect">
            <a:avLst>
              <a:gd name="adj" fmla="val 8333"/>
            </a:avLst>
          </a:prstGeom>
          <a:solidFill>
            <a:srgbClr val="1C1F24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0" y="34107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BC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  ·   активных, со смартфоном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828800" y="37033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15–20 млн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2468880" y="457200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C6FF3C"/>
          </a:solidFill>
          <a:ln w="12700">
            <a:solidFill>
              <a:srgbClr val="C6FF3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0" y="47365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A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  ·   платящих · 3 года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43200" y="5029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0B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80–150 тыс.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8595360" y="1920240"/>
            <a:ext cx="3017520" cy="1097280"/>
          </a:xfrm>
          <a:prstGeom prst="roundRect">
            <a:avLst>
              <a:gd name="adj" fmla="val 8333"/>
            </a:avLst>
          </a:prstGeom>
          <a:solidFill>
            <a:srgbClr val="16181C"/>
          </a:solidFill>
          <a:ln w="12700">
            <a:solidFill>
              <a:srgbClr val="2A2E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0" y="2084832"/>
            <a:ext cx="64008" cy="768096"/>
          </a:xfrm>
          <a:prstGeom prst="rect">
            <a:avLst/>
          </a:prstGeom>
          <a:solidFill>
            <a:srgbClr val="C6FF3C"/>
          </a:solidFill>
          <a:ln/>
        </p:spPr>
      </p:sp>
      <p:sp>
        <p:nvSpPr>
          <p:cNvPr id="15" name="Text 13"/>
          <p:cNvSpPr/>
          <p:nvPr/>
        </p:nvSpPr>
        <p:spPr>
          <a:xfrm>
            <a:off x="8851392" y="2103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Олимпийский вид спорта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851392" y="259689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спрос растёт и легитимизируется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95360" y="3246120"/>
            <a:ext cx="3017520" cy="1097280"/>
          </a:xfrm>
          <a:prstGeom prst="roundRect">
            <a:avLst>
              <a:gd name="adj" fmla="val 8333"/>
            </a:avLst>
          </a:prstGeom>
          <a:solidFill>
            <a:srgbClr val="16181C"/>
          </a:solidFill>
          <a:ln w="12700">
            <a:solidFill>
              <a:srgbClr val="2A2E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95360" y="3410712"/>
            <a:ext cx="64008" cy="768096"/>
          </a:xfrm>
          <a:prstGeom prst="rect">
            <a:avLst/>
          </a:prstGeom>
          <a:solidFill>
            <a:srgbClr val="C6FF3C"/>
          </a:solidFill>
          <a:ln/>
        </p:spPr>
      </p:sp>
      <p:sp>
        <p:nvSpPr>
          <p:cNvPr id="19" name="Text 17"/>
          <p:cNvSpPr/>
          <p:nvPr/>
        </p:nvSpPr>
        <p:spPr>
          <a:xfrm>
            <a:off x="8851392" y="3429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55% новичков — поколение Z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851392" y="39227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аудитория молодеет с 2020 года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95360" y="4572000"/>
            <a:ext cx="3017520" cy="1097280"/>
          </a:xfrm>
          <a:prstGeom prst="roundRect">
            <a:avLst>
              <a:gd name="adj" fmla="val 8333"/>
            </a:avLst>
          </a:prstGeom>
          <a:solidFill>
            <a:srgbClr val="16181C"/>
          </a:solidFill>
          <a:ln w="12700">
            <a:solidFill>
              <a:srgbClr val="2A2E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95360" y="4736592"/>
            <a:ext cx="64008" cy="768096"/>
          </a:xfrm>
          <a:prstGeom prst="rect">
            <a:avLst/>
          </a:prstGeom>
          <a:solidFill>
            <a:srgbClr val="C6FF3C"/>
          </a:solidFill>
          <a:ln/>
        </p:spPr>
      </p:sp>
      <p:sp>
        <p:nvSpPr>
          <p:cNvPr id="23" name="Text 21"/>
          <p:cNvSpPr/>
          <p:nvPr/>
        </p:nvSpPr>
        <p:spPr>
          <a:xfrm>
            <a:off x="8851392" y="47548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Ниша ИИ-разбора техники пуста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851392" y="52486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прямого конкурента нет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943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рынок — обучение технике, а не продажа досок.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C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ИНТЕЛЛЕКТУАЛЬНАЯ СОБСТВЕННОСТЬ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100" kern="0" dirty="0">
                <a:solidFill>
                  <a:srgbClr val="F4F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ОБЪЕКТЫ ИС · 5 ИНСТИТУТОВ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C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ОСНОВНОЙ ИСТОЧНИК ДОХОДА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16181C"/>
          </a:solidFill>
          <a:ln w="19050">
            <a:solidFill>
              <a:srgbClr val="C6FF3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938528"/>
            <a:ext cx="640080" cy="640080"/>
          </a:xfrm>
          <a:prstGeom prst="ellipse">
            <a:avLst/>
          </a:prstGeom>
          <a:solidFill>
            <a:srgbClr val="C6FF3C"/>
          </a:solidFill>
          <a:ln/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7" name="Image 0" descr="/home/claude/ic_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2104949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8288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Программа для ЭВМ — приложение FormAI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691640" y="22860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Авторское право · код, интерфейс, логика анализа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0" y="18288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9BC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 ДОХОДА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686800" y="2075688"/>
            <a:ext cx="2651760" cy="502920"/>
          </a:xfrm>
          <a:prstGeom prst="roundRect">
            <a:avLst>
              <a:gd name="adj" fmla="val 49091"/>
            </a:avLst>
          </a:prstGeom>
          <a:solidFill>
            <a:srgbClr val="C6FF3C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0" y="20756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B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Подписка B2C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686800" y="26060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599 ₽/мес · EULA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3108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C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ВСПОМОГАТЕЛЬНЫЕ ИСТОЧНИКИ ДОХОДА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401568"/>
            <a:ext cx="2139696" cy="2395728"/>
          </a:xfrm>
          <a:prstGeom prst="roundRect">
            <a:avLst>
              <a:gd name="adj" fmla="val 4274"/>
            </a:avLst>
          </a:prstGeom>
          <a:solidFill>
            <a:srgbClr val="1C1F24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344168" y="3657600"/>
            <a:ext cx="566928" cy="566928"/>
          </a:xfrm>
          <a:prstGeom prst="ellipse">
            <a:avLst/>
          </a:prstGeom>
          <a:solidFill>
            <a:srgbClr val="C6FF3C"/>
          </a:solidFill>
          <a:ln/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17" name="Image 1" descr="/home/claude/ic_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569" y="3805001"/>
            <a:ext cx="272125" cy="27212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76656" y="4389120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Секрет производства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49808" y="4974336"/>
            <a:ext cx="1737360" cy="0"/>
          </a:xfrm>
          <a:prstGeom prst="line">
            <a:avLst/>
          </a:prstGeom>
          <a:noFill/>
          <a:ln w="12700">
            <a:solidFill>
              <a:srgbClr val="2A2E3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58368" y="50657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F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 B2B лицензии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749808" y="5468112"/>
            <a:ext cx="1737360" cy="0"/>
          </a:xfrm>
          <a:prstGeom prst="line">
            <a:avLst/>
          </a:prstGeom>
          <a:noFill/>
          <a:ln w="12700">
            <a:solidFill>
              <a:srgbClr val="2A2E3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58368" y="55229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BC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Нетрадиционные объекты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2793492" y="3401568"/>
            <a:ext cx="2139696" cy="2395728"/>
          </a:xfrm>
          <a:prstGeom prst="roundRect">
            <a:avLst>
              <a:gd name="adj" fmla="val 4274"/>
            </a:avLst>
          </a:prstGeom>
          <a:solidFill>
            <a:srgbClr val="1C1F24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589020" y="3657600"/>
            <a:ext cx="566928" cy="566928"/>
          </a:xfrm>
          <a:prstGeom prst="ellipse">
            <a:avLst/>
          </a:prstGeom>
          <a:solidFill>
            <a:srgbClr val="C6FF3C"/>
          </a:solidFill>
          <a:ln/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25" name="Image 2" descr="/home/claude/ic_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421" y="3805001"/>
            <a:ext cx="272125" cy="27212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921508" y="4389120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База данных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2994660" y="4974336"/>
            <a:ext cx="1737360" cy="0"/>
          </a:xfrm>
          <a:prstGeom prst="line">
            <a:avLst/>
          </a:prstGeom>
          <a:noFill/>
          <a:ln w="12700">
            <a:solidFill>
              <a:srgbClr val="2A2E35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2903220" y="50657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F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 Доступ партнёрам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2994660" y="5468112"/>
            <a:ext cx="1737360" cy="0"/>
          </a:xfrm>
          <a:prstGeom prst="line">
            <a:avLst/>
          </a:prstGeom>
          <a:noFill/>
          <a:ln w="12700">
            <a:solidFill>
              <a:srgbClr val="2A2E35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2903220" y="55229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BC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Смежные права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5038344" y="3401568"/>
            <a:ext cx="2139696" cy="2395728"/>
          </a:xfrm>
          <a:prstGeom prst="roundRect">
            <a:avLst>
              <a:gd name="adj" fmla="val 4274"/>
            </a:avLst>
          </a:prstGeom>
          <a:solidFill>
            <a:srgbClr val="1C1F24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5833872" y="3657600"/>
            <a:ext cx="566928" cy="566928"/>
          </a:xfrm>
          <a:prstGeom prst="ellipse">
            <a:avLst/>
          </a:prstGeom>
          <a:solidFill>
            <a:srgbClr val="C6FF3C"/>
          </a:solidFill>
          <a:ln/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33" name="Image 3" descr="/home/claude/ic_registe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1273" y="3805001"/>
            <a:ext cx="272125" cy="272125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166360" y="4389120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Товарный знак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5239512" y="4974336"/>
            <a:ext cx="1737360" cy="0"/>
          </a:xfrm>
          <a:prstGeom prst="line">
            <a:avLst/>
          </a:prstGeom>
          <a:noFill/>
          <a:ln w="12700">
            <a:solidFill>
              <a:srgbClr val="2A2E35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148072" y="50657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F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 Франшиза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5239512" y="5468112"/>
            <a:ext cx="1737360" cy="0"/>
          </a:xfrm>
          <a:prstGeom prst="line">
            <a:avLst/>
          </a:prstGeom>
          <a:noFill/>
          <a:ln w="12700">
            <a:solidFill>
              <a:srgbClr val="2A2E35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5148072" y="55229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BC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Средства индивидуализации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7283196" y="3401568"/>
            <a:ext cx="2139696" cy="2395728"/>
          </a:xfrm>
          <a:prstGeom prst="roundRect">
            <a:avLst>
              <a:gd name="adj" fmla="val 4274"/>
            </a:avLst>
          </a:prstGeom>
          <a:solidFill>
            <a:srgbClr val="1C1F24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8078724" y="3657600"/>
            <a:ext cx="566928" cy="566928"/>
          </a:xfrm>
          <a:prstGeom prst="ellipse">
            <a:avLst/>
          </a:prstGeom>
          <a:solidFill>
            <a:srgbClr val="C6FF3C"/>
          </a:solidFill>
          <a:ln/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41" name="Image 4" descr="/home/claude/ic_copy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6125" y="3805001"/>
            <a:ext cx="272125" cy="272125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7411212" y="4389120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Контент библиотеки</a:t>
            </a:r>
            <a:endParaRPr lang="en-US" sz="1300" dirty="0"/>
          </a:p>
        </p:txBody>
      </p:sp>
      <p:sp>
        <p:nvSpPr>
          <p:cNvPr id="43" name="Shape 36"/>
          <p:cNvSpPr/>
          <p:nvPr/>
        </p:nvSpPr>
        <p:spPr>
          <a:xfrm>
            <a:off x="7484364" y="4974336"/>
            <a:ext cx="1737360" cy="0"/>
          </a:xfrm>
          <a:prstGeom prst="line">
            <a:avLst/>
          </a:prstGeom>
          <a:noFill/>
          <a:ln w="12700">
            <a:solidFill>
              <a:srgbClr val="2A2E35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7392924" y="50657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F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 PRO-подписка</a:t>
            </a:r>
            <a:endParaRPr lang="en-US" sz="1300" dirty="0"/>
          </a:p>
        </p:txBody>
      </p:sp>
      <p:sp>
        <p:nvSpPr>
          <p:cNvPr id="45" name="Shape 38"/>
          <p:cNvSpPr/>
          <p:nvPr/>
        </p:nvSpPr>
        <p:spPr>
          <a:xfrm>
            <a:off x="7484364" y="5468112"/>
            <a:ext cx="1737360" cy="0"/>
          </a:xfrm>
          <a:prstGeom prst="line">
            <a:avLst/>
          </a:prstGeom>
          <a:noFill/>
          <a:ln w="12700">
            <a:solidFill>
              <a:srgbClr val="2A2E35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7392924" y="55229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BC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Авторское право</a:t>
            </a:r>
            <a:endParaRPr lang="en-US" sz="950" dirty="0"/>
          </a:p>
        </p:txBody>
      </p:sp>
      <p:sp>
        <p:nvSpPr>
          <p:cNvPr id="47" name="Shape 40"/>
          <p:cNvSpPr/>
          <p:nvPr/>
        </p:nvSpPr>
        <p:spPr>
          <a:xfrm>
            <a:off x="9528048" y="3401568"/>
            <a:ext cx="2139696" cy="2395728"/>
          </a:xfrm>
          <a:prstGeom prst="roundRect">
            <a:avLst>
              <a:gd name="adj" fmla="val 4274"/>
            </a:avLst>
          </a:prstGeom>
          <a:solidFill>
            <a:srgbClr val="1C1F24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48" name="Shape 41"/>
          <p:cNvSpPr/>
          <p:nvPr/>
        </p:nvSpPr>
        <p:spPr>
          <a:xfrm>
            <a:off x="10323576" y="3657600"/>
            <a:ext cx="566928" cy="566928"/>
          </a:xfrm>
          <a:prstGeom prst="ellipse">
            <a:avLst/>
          </a:prstGeom>
          <a:solidFill>
            <a:srgbClr val="C6FF3C"/>
          </a:solidFill>
          <a:ln/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49" name="Image 5" descr="/home/claude/ic_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0977" y="3805001"/>
            <a:ext cx="272125" cy="272125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9656064" y="4389120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Способ анализа</a:t>
            </a:r>
            <a:endParaRPr lang="en-US" sz="1300" dirty="0"/>
          </a:p>
        </p:txBody>
      </p:sp>
      <p:sp>
        <p:nvSpPr>
          <p:cNvPr id="51" name="Shape 43"/>
          <p:cNvSpPr/>
          <p:nvPr/>
        </p:nvSpPr>
        <p:spPr>
          <a:xfrm>
            <a:off x="9729216" y="4974336"/>
            <a:ext cx="1737360" cy="0"/>
          </a:xfrm>
          <a:prstGeom prst="line">
            <a:avLst/>
          </a:prstGeom>
          <a:noFill/>
          <a:ln w="12700">
            <a:solidFill>
              <a:srgbClr val="2A2E35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9637776" y="50657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F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 Лицензирование</a:t>
            </a:r>
            <a:endParaRPr lang="en-US" sz="1300" dirty="0"/>
          </a:p>
        </p:txBody>
      </p:sp>
      <p:sp>
        <p:nvSpPr>
          <p:cNvPr id="53" name="Shape 45"/>
          <p:cNvSpPr/>
          <p:nvPr/>
        </p:nvSpPr>
        <p:spPr>
          <a:xfrm>
            <a:off x="9729216" y="5468112"/>
            <a:ext cx="1737360" cy="0"/>
          </a:xfrm>
          <a:prstGeom prst="line">
            <a:avLst/>
          </a:prstGeom>
          <a:noFill/>
          <a:ln w="12700">
            <a:solidFill>
              <a:srgbClr val="2A2E35"/>
            </a:solidFill>
            <a:prstDash val="solid"/>
          </a:ln>
        </p:spPr>
      </p:sp>
      <p:sp>
        <p:nvSpPr>
          <p:cNvPr id="54" name="Text 46"/>
          <p:cNvSpPr/>
          <p:nvPr/>
        </p:nvSpPr>
        <p:spPr>
          <a:xfrm>
            <a:off x="9637776" y="55229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BC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Патентное право</a:t>
            </a:r>
            <a:endParaRPr lang="en-US" sz="950" dirty="0"/>
          </a:p>
        </p:txBody>
      </p:sp>
      <p:sp>
        <p:nvSpPr>
          <p:cNvPr id="55" name="Text 47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Объекты намеренно из разных институтов — требование «многообразия».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C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РЕГИСТРАЦИЯ И ПОШЛИНЫ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100" kern="0" dirty="0">
                <a:solidFill>
                  <a:srgbClr val="F4F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РЕГИСТРИРУЕМ И ПОЧЁМ</a:t>
            </a:r>
            <a:endParaRPr lang="en-US" sz="3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920240"/>
                <a:gridCol w="205740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6FF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Объект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6FF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Институт ИС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6FF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Регистрация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6FF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Госпошлина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4F6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Программа для ЭВМ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4F6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Авторское право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4F6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Роспатент (желат.)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F6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4 500 ₽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4F6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База данных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4F6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Смежные права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4F6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Роспатент (по желанию)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F6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4 500 ₽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4F6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Товарный знак «FormAI»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4F6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Средства индивид.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4F6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МКТУ 9 · 41 · 42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6FF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42 000 ₽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4F6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Способ анализа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4F6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Патентное право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4F6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Патент на изобретение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F6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28 000 ₽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4F6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Секрет производства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4F6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Нетрадиционные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4F6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Коммерческая тайна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₽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4F6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Контент библиотеки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4F6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Авторское право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4F6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 требуется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₽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686800" y="1371600"/>
            <a:ext cx="2926080" cy="1737360"/>
          </a:xfrm>
          <a:prstGeom prst="roundRect">
            <a:avLst>
              <a:gd name="adj" fmla="val 5263"/>
            </a:avLst>
          </a:prstGeom>
          <a:solidFill>
            <a:srgbClr val="16181C"/>
          </a:solidFill>
          <a:ln w="19050">
            <a:solidFill>
              <a:srgbClr val="FFB02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91540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Программа ≠ патент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915400" y="19659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F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Программу защищает авторское право. Патентуется отдельно технический способ анализа (п. 5 ст. 1350 ГК РФ).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686800" y="3291840"/>
            <a:ext cx="2926080" cy="1417320"/>
          </a:xfrm>
          <a:prstGeom prst="roundRect">
            <a:avLst>
              <a:gd name="adj" fmla="val 6452"/>
            </a:avLst>
          </a:prstGeom>
          <a:solidFill>
            <a:srgbClr val="C6FF3C"/>
          </a:solidFill>
          <a:ln/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915400" y="3474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 НА ОФОРМЛЕНИЕ ИС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915400" y="384048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B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≈ 79 000 ₽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48640" y="6126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Госпошлины указаны по состоянию на 2026 г.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C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КОММЕРЦИАЛИЗАЦИЯ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100" kern="0" dirty="0">
                <a:solidFill>
                  <a:srgbClr val="F4F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ИСТОЧНИКИ ДОХОДА И ДОГОВОРЫ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BC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 ДОХОДА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069080" y="15727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BC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ПЛАТИТ И ЗА ЧТО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89720" y="1572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BC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ДОГОВОР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6181C"/>
          </a:solidFill>
          <a:ln w="19050">
            <a:solidFill>
              <a:srgbClr val="C6FF3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153412"/>
            <a:ext cx="594360" cy="594360"/>
          </a:xfrm>
          <a:prstGeom prst="ellipse">
            <a:avLst/>
          </a:prstGeom>
          <a:solidFill>
            <a:srgbClr val="C6FF3C"/>
          </a:solidFill>
          <a:ln/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9" name="Image 0" descr="/home/claude/ic_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206" y="2307946"/>
            <a:ext cx="285293" cy="28529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10312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6F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Подписка B2C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1600200" y="2560320"/>
            <a:ext cx="1371600" cy="246888"/>
          </a:xfrm>
          <a:prstGeom prst="roundRect">
            <a:avLst>
              <a:gd name="adj" fmla="val 48148"/>
            </a:avLst>
          </a:prstGeom>
          <a:solidFill>
            <a:srgbClr val="C6FF3C"/>
          </a:solidFill>
          <a:ln/>
        </p:spPr>
      </p:sp>
      <p:sp>
        <p:nvSpPr>
          <p:cNvPr id="12" name="Text 9"/>
          <p:cNvSpPr/>
          <p:nvPr/>
        </p:nvSpPr>
        <p:spPr>
          <a:xfrm>
            <a:off x="1600200" y="256032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ОСНОВНОЙ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995928" y="2121408"/>
            <a:ext cx="0" cy="658368"/>
          </a:xfrm>
          <a:prstGeom prst="line">
            <a:avLst/>
          </a:prstGeom>
          <a:noFill/>
          <a:ln w="12700">
            <a:solidFill>
              <a:srgbClr val="2A2E3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16568" y="2121408"/>
            <a:ext cx="0" cy="658368"/>
          </a:xfrm>
          <a:prstGeom prst="line">
            <a:avLst/>
          </a:prstGeom>
          <a:noFill/>
          <a:ln w="12700">
            <a:solidFill>
              <a:srgbClr val="2A2E3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78808" y="208483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4F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платит за безлимитный ИИ-анализ трюков · тариф Pro, 599 ₽/мес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299448" y="208483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Лицензионное соглашение (EULA)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3008376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C1F24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04672" y="3168396"/>
            <a:ext cx="594360" cy="594360"/>
          </a:xfrm>
          <a:prstGeom prst="ellipse">
            <a:avLst/>
          </a:prstGeom>
          <a:solidFill>
            <a:srgbClr val="C6FF3C"/>
          </a:solidFill>
          <a:ln/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19" name="Image 1" descr="/home/claude/ic_buil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06" y="3322930"/>
            <a:ext cx="285293" cy="28529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600200" y="3118104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B2B лицензирование</a:t>
            </a:r>
            <a:endParaRPr lang="en-US" sz="1550" dirty="0"/>
          </a:p>
        </p:txBody>
      </p:sp>
      <p:sp>
        <p:nvSpPr>
          <p:cNvPr id="21" name="Shape 17"/>
          <p:cNvSpPr/>
          <p:nvPr/>
        </p:nvSpPr>
        <p:spPr>
          <a:xfrm>
            <a:off x="3995928" y="3136392"/>
            <a:ext cx="0" cy="658368"/>
          </a:xfrm>
          <a:prstGeom prst="line">
            <a:avLst/>
          </a:prstGeom>
          <a:noFill/>
          <a:ln w="12700">
            <a:solidFill>
              <a:srgbClr val="2A2E35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116568" y="3136392"/>
            <a:ext cx="0" cy="658368"/>
          </a:xfrm>
          <a:prstGeom prst="line">
            <a:avLst/>
          </a:prstGeom>
          <a:noFill/>
          <a:ln w="12700">
            <a:solidFill>
              <a:srgbClr val="2A2E3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178808" y="3099816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4F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Скейт-школы и партнёры платят за технологию — работают под своим названием (white-label)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9299448" y="3099816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Лиц. договор + NDA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548640" y="40233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C1F24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04672" y="4183380"/>
            <a:ext cx="594360" cy="594360"/>
          </a:xfrm>
          <a:prstGeom prst="ellipse">
            <a:avLst/>
          </a:prstGeom>
          <a:solidFill>
            <a:srgbClr val="C6FF3C"/>
          </a:solidFill>
          <a:ln/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27" name="Image 2" descr="/home/claude/ic_hand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06" y="4337914"/>
            <a:ext cx="285293" cy="285293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600200" y="413308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Франшиза</a:t>
            </a:r>
            <a:endParaRPr lang="en-US" sz="1550" dirty="0"/>
          </a:p>
        </p:txBody>
      </p:sp>
      <p:sp>
        <p:nvSpPr>
          <p:cNvPr id="29" name="Shape 24"/>
          <p:cNvSpPr/>
          <p:nvPr/>
        </p:nvSpPr>
        <p:spPr>
          <a:xfrm>
            <a:off x="3995928" y="4151376"/>
            <a:ext cx="0" cy="658368"/>
          </a:xfrm>
          <a:prstGeom prst="line">
            <a:avLst/>
          </a:prstGeom>
          <a:noFill/>
          <a:ln w="12700">
            <a:solidFill>
              <a:srgbClr val="2A2E35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9116568" y="4151376"/>
            <a:ext cx="0" cy="658368"/>
          </a:xfrm>
          <a:prstGeom prst="line">
            <a:avLst/>
          </a:prstGeom>
          <a:noFill/>
          <a:ln w="12700">
            <a:solidFill>
              <a:srgbClr val="2A2E35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178808" y="41148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4F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Партнёры открывают бизнес под товарным знаком FormAI по единой бизнес-модели</a:t>
            </a:r>
            <a:endParaRPr lang="en-US" sz="1350" dirty="0"/>
          </a:p>
        </p:txBody>
      </p:sp>
      <p:sp>
        <p:nvSpPr>
          <p:cNvPr id="32" name="Text 27"/>
          <p:cNvSpPr/>
          <p:nvPr/>
        </p:nvSpPr>
        <p:spPr>
          <a:xfrm>
            <a:off x="9299448" y="4114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Договор коммерческой концессии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548640" y="5038344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C1F24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804672" y="5198364"/>
            <a:ext cx="594360" cy="594360"/>
          </a:xfrm>
          <a:prstGeom prst="ellipse">
            <a:avLst/>
          </a:prstGeom>
          <a:solidFill>
            <a:srgbClr val="C6FF3C"/>
          </a:solidFill>
          <a:ln/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35" name="Image 3" descr="/home/claude/ic_fil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206" y="5352898"/>
            <a:ext cx="285293" cy="285293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600200" y="514807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Контент по лицензии</a:t>
            </a:r>
            <a:endParaRPr lang="en-US" sz="1550" dirty="0"/>
          </a:p>
        </p:txBody>
      </p:sp>
      <p:sp>
        <p:nvSpPr>
          <p:cNvPr id="37" name="Shape 31"/>
          <p:cNvSpPr/>
          <p:nvPr/>
        </p:nvSpPr>
        <p:spPr>
          <a:xfrm>
            <a:off x="3995928" y="5166360"/>
            <a:ext cx="0" cy="658368"/>
          </a:xfrm>
          <a:prstGeom prst="line">
            <a:avLst/>
          </a:prstGeom>
          <a:noFill/>
          <a:ln w="12700">
            <a:solidFill>
              <a:srgbClr val="2A2E35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9116568" y="5166360"/>
            <a:ext cx="0" cy="658368"/>
          </a:xfrm>
          <a:prstGeom prst="line">
            <a:avLst/>
          </a:prstGeom>
          <a:noFill/>
          <a:ln w="12700">
            <a:solidFill>
              <a:srgbClr val="2A2E35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4178808" y="512978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4F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Платформы и школы получают доступ к библиотеке видеоразборов трюков</a:t>
            </a:r>
            <a:endParaRPr lang="en-US" sz="1350" dirty="0"/>
          </a:p>
        </p:txBody>
      </p:sp>
      <p:sp>
        <p:nvSpPr>
          <p:cNvPr id="40" name="Text 34"/>
          <p:cNvSpPr/>
          <p:nvPr/>
        </p:nvSpPr>
        <p:spPr>
          <a:xfrm>
            <a:off x="9299448" y="5129784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Лицензионный договор</a:t>
            </a:r>
            <a:endParaRPr lang="en-US" sz="1250" dirty="0"/>
          </a:p>
        </p:txBody>
      </p:sp>
      <p:sp>
        <p:nvSpPr>
          <p:cNvPr id="41" name="Shape 35"/>
          <p:cNvSpPr/>
          <p:nvPr/>
        </p:nvSpPr>
        <p:spPr>
          <a:xfrm>
            <a:off x="548640" y="6053328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C6FF3C"/>
          </a:solidFill>
          <a:ln/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42" name="Text 36"/>
          <p:cNvSpPr/>
          <p:nvPr/>
        </p:nvSpPr>
        <p:spPr>
          <a:xfrm>
            <a:off x="548640" y="60533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B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Растущий рынок</a:t>
            </a:r>
            <a:pPr algn="ctr" indent="0" marL="0">
              <a:buNone/>
            </a:pPr>
            <a:r>
              <a:rPr lang="en-US" sz="1700" dirty="0">
                <a:solidFill>
                  <a:srgbClr val="9BCC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 ·   </a:t>
            </a:r>
            <a:pPr algn="ctr" indent="0" marL="0">
              <a:buNone/>
            </a:pPr>
            <a:r>
              <a:rPr lang="en-US" sz="1700" b="1" dirty="0">
                <a:solidFill>
                  <a:srgbClr val="0A0B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пустая ниша</a:t>
            </a:r>
            <a:pPr algn="ctr" indent="0" marL="0">
              <a:buNone/>
            </a:pPr>
            <a:r>
              <a:rPr lang="en-US" sz="1700" dirty="0">
                <a:solidFill>
                  <a:srgbClr val="9BCC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 ·   </a:t>
            </a:r>
            <a:pPr algn="ctr" indent="0" marL="0">
              <a:buNone/>
            </a:pPr>
            <a:r>
              <a:rPr lang="en-US" sz="1700" b="1" dirty="0">
                <a:solidFill>
                  <a:srgbClr val="0A0B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защищённая по всем фронтам технология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FormAI — защита бизнес-концепции</dc:title>
  <dc:subject>PptxGenJS Presentation</dc:subject>
  <dc:creator>FormAI</dc:creator>
  <cp:lastModifiedBy>FormAI</cp:lastModifiedBy>
  <cp:revision>1</cp:revision>
  <dcterms:created xsi:type="dcterms:W3CDTF">2026-05-28T16:53:35Z</dcterms:created>
  <dcterms:modified xsi:type="dcterms:W3CDTF">2026-05-28T16:53:35Z</dcterms:modified>
</cp:coreProperties>
</file>